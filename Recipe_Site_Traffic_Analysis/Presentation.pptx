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83" d="100"/>
          <a:sy n="83" d="100"/>
        </p:scale>
        <p:origin x="65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24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1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0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05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7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5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1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3622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0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852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76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5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4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5372C-38F4-4BA8-B32E-9B8E9280F8F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5C672EB-E7EF-46AC-B48A-C3F698CE5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3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BDAF-8CD2-628F-04CD-88D2AB608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773" y="457200"/>
            <a:ext cx="10971212" cy="81498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Predicting High-Traffic Recipes for the Homepage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8D203-94BF-EFC5-E450-474A9DC50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173" y="1540719"/>
            <a:ext cx="10230984" cy="939776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Data-Driven Insights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B92EC-42C8-9F1B-04A4-380C01319930}"/>
              </a:ext>
            </a:extLst>
          </p:cNvPr>
          <p:cNvSpPr txBox="1"/>
          <p:nvPr/>
        </p:nvSpPr>
        <p:spPr>
          <a:xfrm>
            <a:off x="2900250" y="6000690"/>
            <a:ext cx="6738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Presented by: Gabriele Vertullo </a:t>
            </a:r>
          </a:p>
        </p:txBody>
      </p:sp>
      <p:pic>
        <p:nvPicPr>
          <p:cNvPr id="9" name="Picture 8" descr="A black and orange logo">
            <a:extLst>
              <a:ext uri="{FF2B5EF4-FFF2-40B4-BE49-F238E27FC236}">
                <a16:creationId xmlns:a16="http://schemas.microsoft.com/office/drawing/2014/main" id="{44B967FC-2884-F14C-57AB-8A8E159A2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006" y="304205"/>
            <a:ext cx="7358743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5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A90F19-7A4F-93D0-DA61-10C29D94D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40" y="624110"/>
            <a:ext cx="9736771" cy="128089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The Business Need: Driving Traffic with Recipes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0E82BA-54DD-B63E-6455-79DE60C06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The Challenge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B519C-1B69-5226-9D6C-DD7A6E3F4D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Current Situation: Homepage recipes are selected manually.</a:t>
            </a:r>
          </a:p>
          <a:p>
            <a:r>
              <a:rPr lang="en-US" dirty="0"/>
              <a:t>The Opportunity: Popular recipes significantly boost site traffic (up to </a:t>
            </a:r>
            <a:r>
              <a:rPr lang="en-US" b="1" dirty="0"/>
              <a:t>+40%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and are key to driving </a:t>
            </a:r>
            <a:r>
              <a:rPr lang="en-US" b="1" dirty="0"/>
              <a:t>subscriptions</a:t>
            </a:r>
            <a:r>
              <a:rPr lang="en-US" dirty="0"/>
              <a:t>.</a:t>
            </a:r>
          </a:p>
          <a:p>
            <a:r>
              <a:rPr lang="en-US" dirty="0"/>
              <a:t>The Problem: Manual selection can be inconsistent and might miss opportunities to feature high-potential recipes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BF4F6E-7D8F-6E3B-6A39-196D5B9DA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Our Goal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045834-3E78-8785-2A1D-89928B615CA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Objective: Develop a </a:t>
            </a:r>
            <a:r>
              <a:rPr lang="en-US" b="1" dirty="0"/>
              <a:t>data-driven</a:t>
            </a:r>
            <a:r>
              <a:rPr lang="en-US" dirty="0"/>
              <a:t> model to predict which recipes will generate high traffic when featured.</a:t>
            </a:r>
          </a:p>
          <a:p>
            <a:r>
              <a:rPr lang="en-US" dirty="0"/>
              <a:t>Key Business Targets: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the Hits: Correctly identify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at least 80% </a:t>
            </a:r>
            <a:r>
              <a:rPr lang="en-US" dirty="0"/>
              <a:t>of actual high-traffic recipes (</a:t>
            </a:r>
            <a:r>
              <a:rPr lang="en-US" b="1" dirty="0"/>
              <a:t>Recall</a:t>
            </a:r>
            <a:r>
              <a:rPr lang="en-US" dirty="0"/>
              <a:t> </a:t>
            </a:r>
            <a:r>
              <a:rPr lang="en-US" b="1" dirty="0"/>
              <a:t>≥ 80%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dirty="0"/>
              <a:t>Minimize Misses: Among the recipes predicted as high-traffic, ensure as many as possible truly are popular (</a:t>
            </a:r>
            <a:r>
              <a:rPr lang="en-US" b="1" dirty="0"/>
              <a:t>Maximize</a:t>
            </a:r>
            <a:r>
              <a:rPr lang="en-US" dirty="0"/>
              <a:t> </a:t>
            </a:r>
            <a:r>
              <a:rPr lang="en-US" b="1" dirty="0"/>
              <a:t>Precision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0464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6B50-5C93-9AD8-0A19-016256072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920" y="25876"/>
            <a:ext cx="9929813" cy="128111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Our Approach: From Data to Recommendation</a:t>
            </a:r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8F82161F-37EA-0260-4671-DEF10F9504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948954"/>
              </p:ext>
            </p:extLst>
          </p:nvPr>
        </p:nvGraphicFramePr>
        <p:xfrm>
          <a:off x="1899920" y="959644"/>
          <a:ext cx="10170160" cy="567951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5085080">
                  <a:extLst>
                    <a:ext uri="{9D8B030D-6E8A-4147-A177-3AD203B41FA5}">
                      <a16:colId xmlns:a16="http://schemas.microsoft.com/office/drawing/2014/main" val="2012107916"/>
                    </a:ext>
                  </a:extLst>
                </a:gridCol>
                <a:gridCol w="5085080">
                  <a:extLst>
                    <a:ext uri="{9D8B030D-6E8A-4147-A177-3AD203B41FA5}">
                      <a16:colId xmlns:a16="http://schemas.microsoft.com/office/drawing/2014/main" val="787853117"/>
                    </a:ext>
                  </a:extLst>
                </a:gridCol>
              </a:tblGrid>
              <a:tr h="35663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Step 1: Data Preparation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66786"/>
                  </a:ext>
                </a:extLst>
              </a:tr>
              <a:tr h="63507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Goal: </a:t>
                      </a:r>
                      <a:r>
                        <a:rPr lang="en-US" sz="1600" i="0" dirty="0"/>
                        <a:t>Ensure data quality and consistency.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Actions: </a:t>
                      </a:r>
                      <a:r>
                        <a:rPr lang="en-US" sz="1500" dirty="0"/>
                        <a:t>Validated recipe details, handled missing values (like nutritional info), standardized categories, and cleaned 'servings'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22461"/>
                  </a:ext>
                </a:extLst>
              </a:tr>
              <a:tr h="35663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Step 2: Exploration (EDA)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046757"/>
                  </a:ext>
                </a:extLst>
              </a:tr>
              <a:tr h="63507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Goal:</a:t>
                      </a:r>
                      <a:r>
                        <a:rPr lang="en-US" sz="16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600" dirty="0"/>
                        <a:t>Understand the data's characteristics visually.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Actions: </a:t>
                      </a:r>
                      <a:r>
                        <a:rPr lang="en-US" sz="1500" dirty="0"/>
                        <a:t>Analyzed distributions (like calories) and explored relationships between features (like category counts, nutrition vs. traffic).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334725"/>
                  </a:ext>
                </a:extLst>
              </a:tr>
              <a:tr h="35663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Step 3: Modeling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419644"/>
                  </a:ext>
                </a:extLst>
              </a:tr>
              <a:tr h="63507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Goal: </a:t>
                      </a:r>
                      <a:r>
                        <a:rPr lang="en-US" sz="1600" dirty="0"/>
                        <a:t>Build models to predict high-traffic recipes.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Actions: </a:t>
                      </a:r>
                      <a:r>
                        <a:rPr lang="en-US" sz="1500" dirty="0"/>
                        <a:t>Developed and trained two types of models (Logistic Regression and Random Forest) using the cleaned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700183"/>
                  </a:ext>
                </a:extLst>
              </a:tr>
              <a:tr h="35663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Step 4: Evaluation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964213"/>
                  </a:ext>
                </a:extLst>
              </a:tr>
              <a:tr h="50663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Goal: </a:t>
                      </a:r>
                      <a:r>
                        <a:rPr lang="en-US" sz="1600" dirty="0"/>
                        <a:t>Select the best model based on business needs.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Actions: </a:t>
                      </a:r>
                      <a:r>
                        <a:rPr lang="en-US" sz="1500" dirty="0"/>
                        <a:t>Measured how well each model met the target of finding ≥ 80% of popular recipes (Recall) and how accurate those predictions were (Precision). Fine-tuned the best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443056"/>
                  </a:ext>
                </a:extLst>
              </a:tr>
              <a:tr h="35663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Step 5: Recommendations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578331"/>
                  </a:ext>
                </a:extLst>
              </a:tr>
              <a:tr h="3566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Goal: </a:t>
                      </a:r>
                      <a:r>
                        <a:rPr lang="en-US" sz="1600" dirty="0"/>
                        <a:t>Provide actionable next steps.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Actions: </a:t>
                      </a:r>
                      <a:r>
                        <a:rPr lang="en-US" sz="1500" dirty="0"/>
                        <a:t>Based on the best model's performance, outlined steps for deployment, monitoring, and future improvements.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188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49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3AC227-5316-AAC9-A64A-BB7CDA84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052" y="85630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Getting the Data Ready</a:t>
            </a:r>
            <a:br>
              <a:rPr lang="en-US" sz="40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Why is this important? Reliable predictions start with reliable data. We needed to ensure the recipe information was accurate and consistent.</a:t>
            </a:r>
            <a:endParaRPr lang="en-US" sz="2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A73D3A-7A9A-53F1-646D-BEEA84C10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1366520"/>
            <a:ext cx="9753600" cy="5288280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solidFill>
                  <a:schemeClr val="bg2">
                    <a:lumMod val="50000"/>
                  </a:schemeClr>
                </a:solidFill>
              </a:rPr>
              <a:t>Key Cleaning Steps:</a:t>
            </a:r>
          </a:p>
          <a:p>
            <a:r>
              <a:rPr lang="en-US" b="1" dirty="0"/>
              <a:t>Handled Missing Nutrition: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Filled in missing nutritional info (calories, protein, etc.) for 52 recipes using typical values (medians) based on their category.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Ensures all recipes have complete nutritional data.</a:t>
            </a:r>
            <a:endParaRPr lang="en-US" sz="1500" dirty="0"/>
          </a:p>
          <a:p>
            <a:r>
              <a:rPr lang="en-US" b="1" dirty="0"/>
              <a:t>Standardized Categories: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Grouped similar categories together (e.g., "Chicken Breast" → "Chicken").</a:t>
            </a:r>
            <a:endParaRPr lang="en-US" sz="1500" b="1" dirty="0"/>
          </a:p>
          <a:p>
            <a:pPr>
              <a:buFont typeface="+mj-lt"/>
              <a:buAutoNum type="arabicPeriod"/>
            </a:pPr>
            <a:r>
              <a:rPr lang="en-US" sz="1600" dirty="0"/>
              <a:t>Ensures consistency for analysis.</a:t>
            </a:r>
          </a:p>
          <a:p>
            <a:r>
              <a:rPr lang="en-US" b="1" dirty="0"/>
              <a:t>Fixed 'Servings’: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Corrected or removed entries with unclear serving sizes (like "4 as a snack" - 3 recipes removed)</a:t>
            </a:r>
            <a:r>
              <a:rPr lang="en-US" sz="1500" b="1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Ensures 'servings' is a usable number.</a:t>
            </a:r>
            <a:endParaRPr lang="en-US" sz="15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Interpreted Traffic Data: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Assumed recipes not marked "High" traffic were "Low" (handled 372 missing labels).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Creates a clear target for prediction (High vs. Low).</a:t>
            </a:r>
            <a:endParaRPr lang="en-US" sz="15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27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125D43-62AC-63C9-DDC5-780BDC297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1771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What the Data Tells Us (Key Insights)</a:t>
            </a:r>
          </a:p>
        </p:txBody>
      </p:sp>
      <p:pic>
        <p:nvPicPr>
          <p:cNvPr id="13" name="Content Placeholder 12" descr="A bar graph with text&#10;&#10;AI-generated content may be incorrect.">
            <a:extLst>
              <a:ext uri="{FF2B5EF4-FFF2-40B4-BE49-F238E27FC236}">
                <a16:creationId xmlns:a16="http://schemas.microsoft.com/office/drawing/2014/main" id="{E86FDFED-0110-964E-CAE0-D47571FADB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843" y="1109925"/>
            <a:ext cx="4453890" cy="2207594"/>
          </a:xfrm>
        </p:spPr>
      </p:pic>
      <p:pic>
        <p:nvPicPr>
          <p:cNvPr id="11" name="Content Placeholder 10" descr="A graph of calories distribution&#10;&#10;AI-generated content may be incorrect.">
            <a:extLst>
              <a:ext uri="{FF2B5EF4-FFF2-40B4-BE49-F238E27FC236}">
                <a16:creationId xmlns:a16="http://schemas.microsoft.com/office/drawing/2014/main" id="{F06E7A8C-EE45-B75F-6144-5F0BEBEE39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12" y="1054184"/>
            <a:ext cx="4137025" cy="2263334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B7D66E-6319-6D33-F497-40DE536EB1AD}"/>
              </a:ext>
            </a:extLst>
          </p:cNvPr>
          <p:cNvSpPr txBox="1"/>
          <p:nvPr/>
        </p:nvSpPr>
        <p:spPr>
          <a:xfrm>
            <a:off x="7268894" y="3442519"/>
            <a:ext cx="337312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Recipe Categories: </a:t>
            </a:r>
            <a:r>
              <a:rPr lang="en-US" sz="1500" dirty="0"/>
              <a:t>Wide variety of categories represented.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500" dirty="0"/>
              <a:t>Chicken, Breakfast, and Beverages are the most frequent types in our data.</a:t>
            </a:r>
            <a:endParaRPr lang="en-US" sz="15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032D6-8F6E-8B83-EB1A-7E49357E6A0B}"/>
              </a:ext>
            </a:extLst>
          </p:cNvPr>
          <p:cNvSpPr txBox="1"/>
          <p:nvPr/>
        </p:nvSpPr>
        <p:spPr>
          <a:xfrm>
            <a:off x="2081212" y="3512381"/>
            <a:ext cx="284638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Nutritional Profile: </a:t>
            </a:r>
            <a:r>
              <a:rPr lang="en-US" sz="1500" dirty="0"/>
              <a:t>Most recipes have moderate calorie counts, though some outliers are very high.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9" name="Picture 18" descr="A graph showing a graph of carbohydrate&#10;&#10;AI-generated content may be incorrect.">
            <a:extLst>
              <a:ext uri="{FF2B5EF4-FFF2-40B4-BE49-F238E27FC236}">
                <a16:creationId xmlns:a16="http://schemas.microsoft.com/office/drawing/2014/main" id="{E021A1BB-A08B-F2B4-CCD9-4D1193EBC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12" y="4594666"/>
            <a:ext cx="4856480" cy="20456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14E87F3-A501-9D5E-1597-436AE4363E0F}"/>
              </a:ext>
            </a:extLst>
          </p:cNvPr>
          <p:cNvSpPr txBox="1"/>
          <p:nvPr/>
        </p:nvSpPr>
        <p:spPr>
          <a:xfrm>
            <a:off x="7045055" y="4594666"/>
            <a:ext cx="24387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No Single Nutrient Predicts Traffic: </a:t>
            </a:r>
            <a:r>
              <a:rPr lang="en-US" sz="1500" dirty="0"/>
              <a:t>Neither carbohydrates nor protein clearly distinguish high-traffic recipes from low-traffic ones.</a:t>
            </a:r>
            <a:endParaRPr lang="en-US" sz="15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88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DEAC-7D38-D8A7-1BF3-A3ABBF20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Finding the Best Predictive Model</a:t>
            </a:r>
            <a:br>
              <a:rPr lang="en-US" sz="40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Our Goal: Find a model that reliably identifies high-traffic recipes (Recall ≥ 80%) while being accurate (High Precision)</a:t>
            </a:r>
            <a:endParaRPr lang="en-US" sz="2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595D0-F115-FBCD-A344-FCA7D9948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82136" y="1958582"/>
            <a:ext cx="4313864" cy="46860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Models Tested: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Logistic Regression: A standard, interpretable model (our baseline).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Random Forest: A more complex model capable of finding intricate patterns.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Conclusion:</a:t>
            </a:r>
          </a:p>
          <a:p>
            <a:r>
              <a:rPr lang="en-US" b="1" dirty="0">
                <a:solidFill>
                  <a:schemeClr val="tx1"/>
                </a:solidFill>
              </a:rPr>
              <a:t>Logistic Regression </a:t>
            </a:r>
            <a:r>
              <a:rPr lang="en-US" dirty="0"/>
              <a:t>is the clear winner.</a:t>
            </a:r>
          </a:p>
          <a:p>
            <a:r>
              <a:rPr lang="en-US" dirty="0"/>
              <a:t>It successfully met the crucial </a:t>
            </a:r>
            <a:r>
              <a:rPr lang="en-US" b="1" dirty="0"/>
              <a:t>80% Recall target.</a:t>
            </a:r>
          </a:p>
          <a:p>
            <a:r>
              <a:rPr lang="en-US" dirty="0"/>
              <a:t>It also had </a:t>
            </a:r>
            <a:r>
              <a:rPr lang="en-US" b="1" dirty="0"/>
              <a:t>higher Precision</a:t>
            </a:r>
            <a:r>
              <a:rPr lang="en-US" dirty="0"/>
              <a:t>, meaning fewer incorrect predictions of high traffic.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2E49D57-6E8A-4595-00CC-293CC77AEB2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6282869"/>
              </p:ext>
            </p:extLst>
          </p:nvPr>
        </p:nvGraphicFramePr>
        <p:xfrm>
          <a:off x="6217919" y="2442910"/>
          <a:ext cx="5286692" cy="224209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21673">
                  <a:extLst>
                    <a:ext uri="{9D8B030D-6E8A-4147-A177-3AD203B41FA5}">
                      <a16:colId xmlns:a16="http://schemas.microsoft.com/office/drawing/2014/main" val="405320053"/>
                    </a:ext>
                  </a:extLst>
                </a:gridCol>
                <a:gridCol w="1321673">
                  <a:extLst>
                    <a:ext uri="{9D8B030D-6E8A-4147-A177-3AD203B41FA5}">
                      <a16:colId xmlns:a16="http://schemas.microsoft.com/office/drawing/2014/main" val="2576255296"/>
                    </a:ext>
                  </a:extLst>
                </a:gridCol>
                <a:gridCol w="1321673">
                  <a:extLst>
                    <a:ext uri="{9D8B030D-6E8A-4147-A177-3AD203B41FA5}">
                      <a16:colId xmlns:a16="http://schemas.microsoft.com/office/drawing/2014/main" val="3512876040"/>
                    </a:ext>
                  </a:extLst>
                </a:gridCol>
                <a:gridCol w="1321673">
                  <a:extLst>
                    <a:ext uri="{9D8B030D-6E8A-4147-A177-3AD203B41FA5}">
                      <a16:colId xmlns:a16="http://schemas.microsoft.com/office/drawing/2014/main" val="2635766989"/>
                    </a:ext>
                  </a:extLst>
                </a:gridCol>
              </a:tblGrid>
              <a:tr h="94235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Recall (Target ≥ 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Precision (Higher is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Overall Performance (AUC)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977990"/>
                  </a:ext>
                </a:extLst>
              </a:tr>
              <a:tr h="659652">
                <a:tc>
                  <a:txBody>
                    <a:bodyPr/>
                    <a:lstStyle/>
                    <a:p>
                      <a:r>
                        <a:rPr lang="en-US" b="1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0.843 (Good)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143880"/>
                  </a:ext>
                </a:extLst>
              </a:tr>
              <a:tr h="630967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0.779 (Okay)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19685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F858161-7D7D-6F35-3DE2-99DFBD6D13A3}"/>
              </a:ext>
            </a:extLst>
          </p:cNvPr>
          <p:cNvSpPr txBox="1"/>
          <p:nvPr/>
        </p:nvSpPr>
        <p:spPr>
          <a:xfrm>
            <a:off x="6096000" y="4771519"/>
            <a:ext cx="5022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(Recall = % of actual high-traffic recipes found; Precision = % of predicted high-traffic recipes that were correct)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3F95E1-CD5A-F0B3-2227-E20176A69FBC}"/>
              </a:ext>
            </a:extLst>
          </p:cNvPr>
          <p:cNvSpPr txBox="1"/>
          <p:nvPr/>
        </p:nvSpPr>
        <p:spPr>
          <a:xfrm>
            <a:off x="2188537" y="4944555"/>
            <a:ext cx="403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CEC915-D85B-36CD-9902-6F6F7839D60C}"/>
              </a:ext>
            </a:extLst>
          </p:cNvPr>
          <p:cNvSpPr txBox="1"/>
          <p:nvPr/>
        </p:nvSpPr>
        <p:spPr>
          <a:xfrm>
            <a:off x="6096000" y="1958582"/>
            <a:ext cx="521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How They Performed (default settings):</a:t>
            </a:r>
          </a:p>
        </p:txBody>
      </p:sp>
    </p:spTree>
    <p:extLst>
      <p:ext uri="{BB962C8B-B14F-4D97-AF65-F5344CB8AC3E}">
        <p14:creationId xmlns:p14="http://schemas.microsoft.com/office/powerpoint/2010/main" val="417383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C98F-40CA-3E84-2933-C8BED76C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380270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Fine-Tuning the Model for Better Precision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The Goal: We met the 80% Recall target with Logistic Regression. Can we also reduce the number of unpopular recipes shown (i.e., increase Precision) without falling below that 80% Recall?</a:t>
            </a:r>
            <a:endParaRPr lang="en-US" sz="2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CE52-45AB-B5CA-5E6F-AE4F0B834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81510" y="2012457"/>
            <a:ext cx="4313864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The Action: Adjusting the Decision Point</a:t>
            </a:r>
          </a:p>
          <a:p>
            <a:r>
              <a:rPr lang="en-US" sz="1500" dirty="0"/>
              <a:t>Instead of the default 50/50 probability cutoff, we slightly adjusted the model's decision threshold.</a:t>
            </a:r>
          </a:p>
          <a:p>
            <a:r>
              <a:rPr lang="en-US" sz="1600" dirty="0"/>
              <a:t>We looked for the "sweet spot" that gave the highest Precision while keeping Recall at or above 80%.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" name="Content Placeholder 9" descr="A black text on a white background">
            <a:extLst>
              <a:ext uri="{FF2B5EF4-FFF2-40B4-BE49-F238E27FC236}">
                <a16:creationId xmlns:a16="http://schemas.microsoft.com/office/drawing/2014/main" id="{293DE42B-2193-9F7E-482C-C4C2855626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510" y="4246103"/>
            <a:ext cx="4313238" cy="1077737"/>
          </a:xfr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2A5A99-D752-AF05-BEAD-694D628C0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213071"/>
              </p:ext>
            </p:extLst>
          </p:nvPr>
        </p:nvGraphicFramePr>
        <p:xfrm>
          <a:off x="6390640" y="2401674"/>
          <a:ext cx="5415279" cy="17936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05093">
                  <a:extLst>
                    <a:ext uri="{9D8B030D-6E8A-4147-A177-3AD203B41FA5}">
                      <a16:colId xmlns:a16="http://schemas.microsoft.com/office/drawing/2014/main" val="3613303736"/>
                    </a:ext>
                  </a:extLst>
                </a:gridCol>
                <a:gridCol w="1805093">
                  <a:extLst>
                    <a:ext uri="{9D8B030D-6E8A-4147-A177-3AD203B41FA5}">
                      <a16:colId xmlns:a16="http://schemas.microsoft.com/office/drawing/2014/main" val="2188559844"/>
                    </a:ext>
                  </a:extLst>
                </a:gridCol>
                <a:gridCol w="1805093">
                  <a:extLst>
                    <a:ext uri="{9D8B030D-6E8A-4147-A177-3AD203B41FA5}">
                      <a16:colId xmlns:a16="http://schemas.microsoft.com/office/drawing/2014/main" val="1718094892"/>
                    </a:ext>
                  </a:extLst>
                </a:gridCol>
              </a:tblGrid>
              <a:tr h="5134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Recall (Target ≥ 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Precision (Higher is Better)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00033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Default (0.500)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80.7%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305433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Optimized (0.520)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82.9% (Improved!)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0842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46868BB-696D-D35D-084D-C67F09592455}"/>
              </a:ext>
            </a:extLst>
          </p:cNvPr>
          <p:cNvSpPr txBox="1"/>
          <p:nvPr/>
        </p:nvSpPr>
        <p:spPr>
          <a:xfrm>
            <a:off x="6390640" y="2012457"/>
            <a:ext cx="4846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The Results: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9F163-5946-80F5-83E9-F8CF2E5D17BD}"/>
              </a:ext>
            </a:extLst>
          </p:cNvPr>
          <p:cNvSpPr txBox="1"/>
          <p:nvPr/>
        </p:nvSpPr>
        <p:spPr>
          <a:xfrm>
            <a:off x="6390640" y="4419600"/>
            <a:ext cx="541527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Key Message: </a:t>
            </a:r>
            <a:r>
              <a:rPr lang="en-US" dirty="0"/>
              <a:t>By slightly adjusting the threshold to </a:t>
            </a:r>
            <a:r>
              <a:rPr lang="en-US" b="1" dirty="0"/>
              <a:t>0.520</a:t>
            </a:r>
            <a:r>
              <a:rPr lang="en-US" dirty="0"/>
              <a:t>, we </a:t>
            </a:r>
            <a:r>
              <a:rPr lang="en-US" b="1" dirty="0"/>
              <a:t>improved Precision </a:t>
            </a:r>
            <a:r>
              <a:rPr lang="en-US" dirty="0"/>
              <a:t>(fewer unpopular recipes predicted as popular) while still successfully identifying 80% of the actual high-traffic recipes.</a:t>
            </a:r>
          </a:p>
        </p:txBody>
      </p:sp>
    </p:spTree>
    <p:extLst>
      <p:ext uri="{BB962C8B-B14F-4D97-AF65-F5344CB8AC3E}">
        <p14:creationId xmlns:p14="http://schemas.microsoft.com/office/powerpoint/2010/main" val="3654989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306148-AF56-5F0D-8AA0-2E5DBC89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232" y="14659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Measuring Success Going Forward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7EF4E9-08D3-B037-9A71-02797F1B9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2" y="1198880"/>
            <a:ext cx="4313864" cy="56591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The Key Metric: Precision at 80% Recall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it means:</a:t>
            </a:r>
          </a:p>
          <a:p>
            <a:r>
              <a:rPr lang="en-US" sz="1600" dirty="0"/>
              <a:t>We ensure we're finding at least 80% of the truly popular recipes (Recall).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600" dirty="0"/>
              <a:t>At that level, we measure how many of the recipes we flag as popular actually are popular (Precision).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Why this metric?</a:t>
            </a:r>
          </a:p>
          <a:p>
            <a:r>
              <a:rPr lang="en-US" sz="1600" dirty="0"/>
              <a:t>It directly balances the goals of maximizing high-traffic recipe exposure while minimizing the promotion of unpopular ones.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54CCD5-B04B-7C40-C0C8-773003D71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6" y="1117600"/>
            <a:ext cx="4757413" cy="54457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Current Estimated Performance (Based on Test Data):</a:t>
            </a:r>
          </a:p>
          <a:p>
            <a:r>
              <a:rPr lang="en-US" sz="1600" b="1" dirty="0"/>
              <a:t>Recall: 80.0% </a:t>
            </a:r>
            <a:r>
              <a:rPr lang="en-US" sz="1600" dirty="0"/>
              <a:t>(Meeting the target).</a:t>
            </a:r>
          </a:p>
          <a:p>
            <a:r>
              <a:rPr lang="en-US" sz="1600" b="1" dirty="0"/>
              <a:t>Precision: 82.9% </a:t>
            </a:r>
            <a:r>
              <a:rPr lang="en-US" sz="1600" dirty="0"/>
              <a:t>(Our current baseline for accuracy when meeting the recall target).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How to Monitor:</a:t>
            </a:r>
          </a:p>
          <a:p>
            <a:r>
              <a:rPr lang="en-US" sz="1600" b="1" dirty="0"/>
              <a:t>Track Live Performance:</a:t>
            </a:r>
            <a:r>
              <a:rPr lang="en-US" sz="1600" dirty="0"/>
              <a:t> Regularly calculate "Precision at 80% Recall" using data from recipes featured on the homepage after the model is deployed.</a:t>
            </a:r>
          </a:p>
          <a:p>
            <a:r>
              <a:rPr lang="en-US" sz="1600" b="1" dirty="0"/>
              <a:t>Compare:</a:t>
            </a:r>
            <a:r>
              <a:rPr lang="en-US" sz="1600" dirty="0"/>
              <a:t> Compare live results against the 82.9% precision baseline.</a:t>
            </a:r>
          </a:p>
          <a:p>
            <a:r>
              <a:rPr lang="en-US" sz="1600" b="1" dirty="0"/>
              <a:t>Watch Trends:</a:t>
            </a:r>
            <a:r>
              <a:rPr lang="en-US" sz="1600" dirty="0"/>
              <a:t> Monitor if performance changes over time (this could indicate a need for model retraining).</a:t>
            </a:r>
          </a:p>
          <a:p>
            <a:r>
              <a:rPr lang="en-US" sz="1600" b="1" dirty="0"/>
              <a:t>Business Impact:</a:t>
            </a:r>
            <a:r>
              <a:rPr lang="en-US" sz="1600" dirty="0"/>
              <a:t> Correlate metric performance with overall site traffic and subscription rates.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3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CE09-3029-AEFD-9587-7956AD2A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32" y="10160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Recommendations &amp; Next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BA21F9-29B2-0989-CA7F-EDAF1088D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5360" y="751840"/>
            <a:ext cx="9875520" cy="600456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>
                    <a:lumMod val="50000"/>
                  </a:schemeClr>
                </a:solidFill>
              </a:rPr>
              <a:t>Based on our analysis, we recommend the following steps to leverage these findings: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1. Deploy the Model:</a:t>
            </a:r>
          </a:p>
          <a:p>
            <a:r>
              <a:rPr lang="en-US" sz="1600" dirty="0"/>
              <a:t>Implement the Logistic Regression model into the homepage recipe selection process.</a:t>
            </a:r>
          </a:p>
          <a:p>
            <a:r>
              <a:rPr lang="en-US" sz="1600" b="1" dirty="0"/>
              <a:t>Benefit: </a:t>
            </a:r>
            <a:r>
              <a:rPr lang="en-US" sz="1600" dirty="0"/>
              <a:t>Start making data-driven decisions immediately.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2. Use the Optimal Threshold:</a:t>
            </a:r>
          </a:p>
          <a:p>
            <a:r>
              <a:rPr lang="en-US" sz="1600" dirty="0"/>
              <a:t>Set the model's classification threshold to 0.520.</a:t>
            </a:r>
          </a:p>
          <a:p>
            <a:r>
              <a:rPr lang="en-US" sz="1600" b="1" dirty="0"/>
              <a:t>Benefit: </a:t>
            </a:r>
            <a:r>
              <a:rPr lang="en-US" sz="1600" dirty="0"/>
              <a:t>Balances finding popular recipes (80% Recall) with improved accuracy (82.9% Precision).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3. Monitor Performance:</a:t>
            </a:r>
          </a:p>
          <a:p>
            <a:r>
              <a:rPr lang="en-US" sz="1600" dirty="0"/>
              <a:t>Track the key metric: "Precision at 80% Recall" using live data.</a:t>
            </a:r>
          </a:p>
          <a:p>
            <a:r>
              <a:rPr lang="en-US" sz="1600" dirty="0"/>
              <a:t>Also monitor overall site traffic and subscription impact.</a:t>
            </a:r>
          </a:p>
          <a:p>
            <a:r>
              <a:rPr lang="en-US" sz="1600" b="1" dirty="0"/>
              <a:t>Benefit: </a:t>
            </a:r>
            <a:r>
              <a:rPr lang="en-US" sz="1600" dirty="0"/>
              <a:t>Ensures the model remains effective and demonstrates its value.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4. Future Enhancements:</a:t>
            </a:r>
          </a:p>
          <a:p>
            <a:r>
              <a:rPr lang="en-US" sz="1600" dirty="0"/>
              <a:t>Explore adding features like user ratings, prep time, or image analysis if data becomes available.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600" b="1" dirty="0"/>
              <a:t>Benefit: </a:t>
            </a:r>
            <a:r>
              <a:rPr lang="en-US" sz="1600" dirty="0"/>
              <a:t>Potential to further improve prediction accuracy over time.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5. A/B Test (Recommended):</a:t>
            </a:r>
          </a:p>
          <a:p>
            <a:r>
              <a:rPr lang="en-US" sz="1600" dirty="0"/>
              <a:t>Compare the model's performance directly against the current manual selection process.</a:t>
            </a:r>
          </a:p>
          <a:p>
            <a:r>
              <a:rPr lang="en-US" sz="1600" b="1" dirty="0"/>
              <a:t>Benefit: </a:t>
            </a:r>
            <a:r>
              <a:rPr lang="en-US" sz="1600" dirty="0"/>
              <a:t>Quantifies the impact on engagement, traffic, and subscriptions.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831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20E592-8E59-CE4A-9D84-75E6165A9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829390"/>
            <a:ext cx="9604691" cy="1468800"/>
          </a:xfrm>
        </p:spPr>
        <p:txBody>
          <a:bodyPr>
            <a:normAutofit/>
          </a:bodyPr>
          <a:lstStyle/>
          <a:p>
            <a:pPr algn="ctr"/>
            <a:r>
              <a:rPr lang="en-US" sz="5500" b="1" dirty="0">
                <a:solidFill>
                  <a:schemeClr val="bg2">
                    <a:lumMod val="50000"/>
                  </a:schemeClr>
                </a:solidFill>
              </a:rPr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BE6377-6FC8-F5AE-549A-A189E51E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3925" y="2298190"/>
            <a:ext cx="8915399" cy="8604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Questions?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9" name="Picture 8" descr="A black and orange logo&#10;&#10;AI-generated content may be incorrect.">
            <a:extLst>
              <a:ext uri="{FF2B5EF4-FFF2-40B4-BE49-F238E27FC236}">
                <a16:creationId xmlns:a16="http://schemas.microsoft.com/office/drawing/2014/main" id="{9BD197EC-D992-45A0-6F57-E34CEAEF0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497" y="662297"/>
            <a:ext cx="7134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5669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369</TotalTime>
  <Words>1259</Words>
  <Application>Microsoft Office PowerPoint</Application>
  <PresentationFormat>Widescreen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 3</vt:lpstr>
      <vt:lpstr>Wisp</vt:lpstr>
      <vt:lpstr>Predicting High-Traffic Recipes for the Homepage</vt:lpstr>
      <vt:lpstr>The Business Need: Driving Traffic with Recipes</vt:lpstr>
      <vt:lpstr>Our Approach: From Data to Recommendation</vt:lpstr>
      <vt:lpstr>Getting the Data Ready Why is this important? Reliable predictions start with reliable data. We needed to ensure the recipe information was accurate and consistent.</vt:lpstr>
      <vt:lpstr>What the Data Tells Us (Key Insights)</vt:lpstr>
      <vt:lpstr>Finding the Best Predictive Model Our Goal: Find a model that reliably identifies high-traffic recipes (Recall ≥ 80%) while being accurate (High Precision)</vt:lpstr>
      <vt:lpstr>Fine-Tuning the Model for Better Precision The Goal: We met the 80% Recall target with Logistic Regression. Can we also reduce the number of unpopular recipes shown (i.e., increase Precision) without falling below that 80% Recall?</vt:lpstr>
      <vt:lpstr>Measuring Success Going Forward</vt:lpstr>
      <vt:lpstr>Recommendations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Vertullo</dc:creator>
  <cp:lastModifiedBy>Gabriele Vertullo</cp:lastModifiedBy>
  <cp:revision>27</cp:revision>
  <dcterms:created xsi:type="dcterms:W3CDTF">2025-04-25T12:21:41Z</dcterms:created>
  <dcterms:modified xsi:type="dcterms:W3CDTF">2025-04-30T12:56:59Z</dcterms:modified>
</cp:coreProperties>
</file>